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5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D4A"/>
    <a:srgbClr val="FEDF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2498EB-777C-490C-A13B-AD36B9F8070F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054FDB-AECE-47FD-B8D4-40D0FCFD0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920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A6156-9191-744A-2D71-4D38832DA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C8547C-F8F2-9194-1850-8B681250E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3DC68-A621-31AF-51FA-4C23FF4AC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12B3-736E-4000-90DB-8619E6F2E9C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B333-BB52-EF43-BACD-19ED497E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9990C-41D7-88E8-F124-FDCD33F55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65DE3-D4E0-4390-89CC-78534735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863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8CD90-ED5E-D199-1AC8-FECB14581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C1AE1-C87B-C974-CBC8-75D06328E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884E7-D02D-6DE6-2155-59E8B2564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12B3-736E-4000-90DB-8619E6F2E9C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C9E73-DEA2-BD03-6883-3286C10D5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C4F1C-BF3F-7371-CD0F-A5D9AF4F3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65DE3-D4E0-4390-89CC-78534735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393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A586C-5DBF-ED52-51EF-830F33D38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03D77-6F64-8B8E-4988-7F59F84F1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E69D1-6FD9-5148-1868-5DF0DC3EA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12B3-736E-4000-90DB-8619E6F2E9C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B9D85-946A-AEE4-3C0D-7E4A745D9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18905-3C56-5767-489B-1426F36E9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65DE3-D4E0-4390-89CC-78534735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990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477F4-351A-70D9-A332-65FF7A80A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B43B2-32B9-341C-44D8-24B5595DF2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6AEC96-54A9-1031-4DF6-203B3DB26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4BF9A-60C3-C59D-6018-00E97BC71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12B3-736E-4000-90DB-8619E6F2E9C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3C629-17F1-165B-A029-E4452746A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2951B-F181-79BF-A7EF-8C7610931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65DE3-D4E0-4390-89CC-78534735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251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45FA8-45AB-5250-B2A4-02AEEF594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E5C02-578D-7B4D-B3C1-F0A4D3BB5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E97E7E-1F91-0F15-FAD7-594EE8D9B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AF3DBC-ED45-7A89-706D-4752B50E92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8CC925-255F-73BB-A7FB-45B263C04B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5CE346-9D55-BB9C-B371-2FD07599C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12B3-736E-4000-90DB-8619E6F2E9C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B704E-F9C4-BEF1-71F4-EE925F072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721EF2-3016-F72B-C6DC-4711AF67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65DE3-D4E0-4390-89CC-78534735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900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9A488-8ED7-25CD-624F-C6890F960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3341FD-82AC-E62C-39AC-E1B7C618A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12B3-736E-4000-90DB-8619E6F2E9C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4B2C0E-851D-302A-5034-10BB2B937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0609D3-46C5-A20A-DD92-1FD1EC923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65DE3-D4E0-4390-89CC-78534735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719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E5D446-657E-D315-F2C9-3BAA4947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12B3-736E-4000-90DB-8619E6F2E9C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A8F310-168C-8581-834D-B6CD9C9BB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55F84-4156-F6F6-C808-D62CB7AB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65DE3-D4E0-4390-89CC-78534735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517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B672E-E096-2300-51AA-D159B7F11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7D413-1C93-3B91-6BF1-DFB456ACD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10F11-A9A6-EFB2-8530-33EE5452F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77F87-54F8-363A-A8DD-94862DE81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12B3-736E-4000-90DB-8619E6F2E9C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34B27-AE0B-B6AF-3430-50A1C9FCA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C1CBE-7D15-5874-D581-1EF22331A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65DE3-D4E0-4390-89CC-78534735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403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EF799-7262-9107-C6A9-F45CD4332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D238D0-17BF-0C9C-423F-AF888781F3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8C16DD-79B1-6CF8-2344-BED9EFEA2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0F991-5DEB-E366-2ACD-8C7321962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12B3-736E-4000-90DB-8619E6F2E9C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2AE23E-40F8-033F-BF59-36D8DFA71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99BD77-A2C1-E4AB-641D-61A6919EC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65DE3-D4E0-4390-89CC-78534735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106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3AA93-15B7-358B-AAB4-FEF4770FD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F9C5FE-0EE6-F2C6-0D95-14FC76B0F9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A7ADD-B030-19E5-1037-8160E2040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12B3-736E-4000-90DB-8619E6F2E9C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13BA1-197D-5488-5E38-3CCF49A13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02D72-BF1C-110A-602A-9227A3EDD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65DE3-D4E0-4390-89CC-78534735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695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AC28C8-306A-3C01-FB9E-F062C30A13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A7699-0322-1232-80FC-2755753C6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1B7BF-D3A5-9C48-ACDA-B96E3C1A0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512B3-736E-4000-90DB-8619E6F2E9C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BBC4A-C78A-0166-8D90-FBAE2B44E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78463-5D19-EA46-08B8-0D84AB439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65DE3-D4E0-4390-89CC-78534735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625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9619CC-7B35-8B41-D5B0-ADC6A0C9C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6D6E9-2217-BC2C-669F-F1E1EC177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49AED-FD48-19A1-FDA7-BCBD0D9609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512B3-736E-4000-90DB-8619E6F2E9C7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2478A-AEA9-FF72-91F1-4488EDD6B4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B8B10-22AA-A9D3-75AD-4982F594DF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65DE3-D4E0-4390-89CC-785347352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31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D1B6-C1DD-AE77-488F-9EF63B69B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7088" y="2899231"/>
            <a:ext cx="6243484" cy="924079"/>
          </a:xfrm>
        </p:spPr>
        <p:txBody>
          <a:bodyPr/>
          <a:lstStyle/>
          <a:p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Cloud Whisper</a:t>
            </a:r>
            <a:endParaRPr lang="en-IN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86B4D0-9A6D-5C7D-E66D-7F1C5B68B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573" y="3763296"/>
            <a:ext cx="9252155" cy="468517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The ultimate cloud assistant</a:t>
            </a:r>
            <a:endParaRPr lang="en-IN" sz="2000" dirty="0">
              <a:latin typeface="Cascadia Mono Light" panose="020B0609020000020004" pitchFamily="49" charset="0"/>
              <a:ea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DDB8A3-AFA4-5147-EC0D-AF74685AF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392" y="2425846"/>
            <a:ext cx="1870850" cy="1870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61ECE3-D533-9722-E175-FC38872E8778}"/>
              </a:ext>
            </a:extLst>
          </p:cNvPr>
          <p:cNvSpPr txBox="1"/>
          <p:nvPr/>
        </p:nvSpPr>
        <p:spPr>
          <a:xfrm>
            <a:off x="8613058" y="5657671"/>
            <a:ext cx="35789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Team Members :</a:t>
            </a:r>
          </a:p>
          <a:p>
            <a:r>
              <a:rPr lang="en-US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Ansh Malik (MAIT)</a:t>
            </a:r>
          </a:p>
          <a:p>
            <a:r>
              <a:rPr lang="en-US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Arnav Bhatia (MAIT)</a:t>
            </a:r>
          </a:p>
          <a:p>
            <a:r>
              <a:rPr lang="en-US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Sanket Singh Negi (GTBIT)</a:t>
            </a:r>
            <a:endParaRPr lang="en-IN" dirty="0">
              <a:latin typeface="Cascadia Mono Light" panose="020B0609020000020004" pitchFamily="49" charset="0"/>
              <a:ea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73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DC3E1-FCEE-28D5-70C2-B635FBA1B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Problem Statement</a:t>
            </a:r>
            <a:endParaRPr lang="en-IN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D9FE8-4196-F8B4-23D2-A13496FC6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highlight>
                  <a:srgbClr val="00FFFF"/>
                </a:highlight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High technical barriers</a:t>
            </a:r>
          </a:p>
          <a:p>
            <a:pPr>
              <a:lnSpc>
                <a:spcPct val="200000"/>
              </a:lnSpc>
            </a:pPr>
            <a:r>
              <a:rPr lang="en-US" dirty="0">
                <a:highlight>
                  <a:srgbClr val="00FFFF"/>
                </a:highlight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Lack of such cloud assistants</a:t>
            </a:r>
          </a:p>
          <a:p>
            <a:pPr>
              <a:lnSpc>
                <a:spcPct val="200000"/>
              </a:lnSpc>
            </a:pPr>
            <a:r>
              <a:rPr lang="en-US" dirty="0">
                <a:highlight>
                  <a:srgbClr val="00FFFF"/>
                </a:highlight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No intelligence abstraction</a:t>
            </a:r>
          </a:p>
          <a:p>
            <a:pPr>
              <a:lnSpc>
                <a:spcPct val="200000"/>
              </a:lnSpc>
            </a:pPr>
            <a:r>
              <a:rPr lang="en-US" dirty="0">
                <a:highlight>
                  <a:srgbClr val="00FFFF"/>
                </a:highlight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Limited accessibility</a:t>
            </a:r>
            <a:endParaRPr lang="en-IN" dirty="0">
              <a:highlight>
                <a:srgbClr val="00FFFF"/>
              </a:highlight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5DCB96-E6F6-FFD7-D22E-54D30050F00D}"/>
              </a:ext>
            </a:extLst>
          </p:cNvPr>
          <p:cNvSpPr txBox="1"/>
          <p:nvPr/>
        </p:nvSpPr>
        <p:spPr>
          <a:xfrm>
            <a:off x="6843251" y="643185"/>
            <a:ext cx="83574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❓</a:t>
            </a:r>
          </a:p>
        </p:txBody>
      </p:sp>
    </p:spTree>
    <p:extLst>
      <p:ext uri="{BB962C8B-B14F-4D97-AF65-F5344CB8AC3E}">
        <p14:creationId xmlns:p14="http://schemas.microsoft.com/office/powerpoint/2010/main" val="2709750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4B313-AEBB-BDDF-A02A-1A9F4959D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Project Objective</a:t>
            </a:r>
            <a:endParaRPr lang="en-IN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AF629-F7FB-072E-2FAA-CC0432ACB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The goal of our project is to develop an intelligent NLP driven platform that allows users to perform cloud operations with much ease.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Key Objectives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highlight>
                  <a:srgbClr val="00FFFF"/>
                </a:highlight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Minimising tech barriers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highlight>
                  <a:srgbClr val="00FFFF"/>
                </a:highlight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Rapid execution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highlight>
                  <a:srgbClr val="00FFFF"/>
                </a:highlight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Leveraging LLMs</a:t>
            </a:r>
          </a:p>
          <a:p>
            <a:endParaRPr lang="en-IN" sz="2400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endParaRPr lang="en-IN" sz="2400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pic>
        <p:nvPicPr>
          <p:cNvPr id="5" name="Graphic 4" descr="Bullseye with solid fill">
            <a:extLst>
              <a:ext uri="{FF2B5EF4-FFF2-40B4-BE49-F238E27FC236}">
                <a16:creationId xmlns:a16="http://schemas.microsoft.com/office/drawing/2014/main" id="{3D0851C1-5B51-4F77-0CF3-479F7BF75D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9006" y="582996"/>
            <a:ext cx="889819" cy="88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24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5B831-D187-30C8-0917-ABFDC9E7E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67" y="382957"/>
            <a:ext cx="10515600" cy="1325563"/>
          </a:xfrm>
        </p:spPr>
        <p:txBody>
          <a:bodyPr/>
          <a:lstStyle/>
          <a:p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Tech Stack</a:t>
            </a:r>
            <a:endParaRPr lang="en-IN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97B234-AE49-3726-79BE-B4DC83A43223}"/>
              </a:ext>
            </a:extLst>
          </p:cNvPr>
          <p:cNvCxnSpPr>
            <a:cxnSpLocks/>
          </p:cNvCxnSpPr>
          <p:nvPr/>
        </p:nvCxnSpPr>
        <p:spPr>
          <a:xfrm>
            <a:off x="4375355" y="1936955"/>
            <a:ext cx="0" cy="4921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AB6E44-71B5-E162-5C85-91A23C5F3906}"/>
              </a:ext>
            </a:extLst>
          </p:cNvPr>
          <p:cNvCxnSpPr>
            <a:cxnSpLocks/>
          </p:cNvCxnSpPr>
          <p:nvPr/>
        </p:nvCxnSpPr>
        <p:spPr>
          <a:xfrm>
            <a:off x="8578645" y="1936955"/>
            <a:ext cx="0" cy="5063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1D99A2D-D2D2-F7B3-7FAE-C3E56CD0556D}"/>
              </a:ext>
            </a:extLst>
          </p:cNvPr>
          <p:cNvCxnSpPr>
            <a:cxnSpLocks/>
          </p:cNvCxnSpPr>
          <p:nvPr/>
        </p:nvCxnSpPr>
        <p:spPr>
          <a:xfrm>
            <a:off x="373626" y="3893574"/>
            <a:ext cx="115234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2DF69E0-CE2A-5B29-746C-693D34A8C110}"/>
              </a:ext>
            </a:extLst>
          </p:cNvPr>
          <p:cNvSpPr txBox="1"/>
          <p:nvPr/>
        </p:nvSpPr>
        <p:spPr>
          <a:xfrm>
            <a:off x="154867" y="2061428"/>
            <a:ext cx="4220488" cy="1527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Frontend : </a:t>
            </a:r>
            <a:r>
              <a:rPr lang="en-US" sz="1600" dirty="0" err="1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Streamlit</a:t>
            </a:r>
            <a:endParaRPr lang="en-US" sz="1600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Lightweight python framework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Allowed fast deployment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Less use of code</a:t>
            </a:r>
            <a:endParaRPr lang="en-IN" sz="1600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95AE69-12FC-0FE9-0F03-B6F114E796DB}"/>
              </a:ext>
            </a:extLst>
          </p:cNvPr>
          <p:cNvSpPr txBox="1"/>
          <p:nvPr/>
        </p:nvSpPr>
        <p:spPr>
          <a:xfrm>
            <a:off x="4456467" y="2061428"/>
            <a:ext cx="4257366" cy="1896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CloudPlatform : </a:t>
            </a:r>
            <a:r>
              <a:rPr lang="en-US" sz="1600" dirty="0" err="1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acecloud</a:t>
            </a:r>
            <a:endParaRPr lang="en-US" sz="1600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Offers GPUs like NVIDIA A100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Provides Load Balancers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Private Cloud Service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23549B0-E183-4BAC-E913-885BC67DB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5110" y="1914967"/>
            <a:ext cx="473497" cy="473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3ACFEFA-972E-769E-0264-E8398D901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655" y="1832993"/>
            <a:ext cx="729429" cy="729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Graphic 20" descr="Cloud Computing with solid fill">
            <a:extLst>
              <a:ext uri="{FF2B5EF4-FFF2-40B4-BE49-F238E27FC236}">
                <a16:creationId xmlns:a16="http://schemas.microsoft.com/office/drawing/2014/main" id="{A6F51C06-518B-D5A4-5EB2-04FED15FB7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5110" y="468542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82BDD36-C5FB-411C-3415-23BDFA8F900E}"/>
              </a:ext>
            </a:extLst>
          </p:cNvPr>
          <p:cNvSpPr txBox="1"/>
          <p:nvPr/>
        </p:nvSpPr>
        <p:spPr>
          <a:xfrm>
            <a:off x="8659758" y="2026090"/>
            <a:ext cx="3264311" cy="1896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Code Editor :VS CODE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Provides support to various languages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Lightweight fast code editor</a:t>
            </a:r>
            <a:endParaRPr lang="en-IN" sz="1600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FF4EE88-FF6B-CA60-587A-AAC968C23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7870" y="1914967"/>
            <a:ext cx="724130" cy="543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C5F9F2C-8D26-288E-23A4-4D8AA83518F0}"/>
              </a:ext>
            </a:extLst>
          </p:cNvPr>
          <p:cNvSpPr txBox="1"/>
          <p:nvPr/>
        </p:nvSpPr>
        <p:spPr>
          <a:xfrm>
            <a:off x="154867" y="4001295"/>
            <a:ext cx="4139376" cy="2635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Infrastructure: </a:t>
            </a:r>
            <a:r>
              <a:rPr lang="en-US" sz="1600" dirty="0" err="1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Openstack</a:t>
            </a:r>
            <a:r>
              <a:rPr lang="en-US" sz="16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 SDK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It is a python SDK used to  interact with cloud platform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Provides services like nova, cinder </a:t>
            </a:r>
            <a:r>
              <a:rPr lang="en-US" sz="1600" dirty="0" err="1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etc</a:t>
            </a:r>
            <a:endParaRPr lang="en-US" sz="1600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Allows creation and management of VMs, disks, networks.</a:t>
            </a:r>
            <a:endParaRPr lang="en-IN" sz="1600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38CEEF16-3870-4631-9DF3-FBA18CD82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507" y="4001295"/>
            <a:ext cx="469774" cy="46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44C9897-76FA-C937-302D-09860EAE8863}"/>
              </a:ext>
            </a:extLst>
          </p:cNvPr>
          <p:cNvSpPr txBox="1"/>
          <p:nvPr/>
        </p:nvSpPr>
        <p:spPr>
          <a:xfrm>
            <a:off x="4416842" y="4001295"/>
            <a:ext cx="3986991" cy="2952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Code Language : Python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Versatile Language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Supports </a:t>
            </a:r>
            <a:r>
              <a:rPr lang="en-US" dirty="0" err="1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Openstack</a:t>
            </a:r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 SDK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Can interact with LLMs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Can be further used to make FAST APIs.</a:t>
            </a:r>
          </a:p>
          <a:p>
            <a:pPr>
              <a:lnSpc>
                <a:spcPct val="150000"/>
              </a:lnSpc>
            </a:pPr>
            <a:endParaRPr lang="en-IN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pic>
        <p:nvPicPr>
          <p:cNvPr id="1036" name="Picture 12" descr="Python Logo Png - Transparent Background Python Logo, Png Download ...">
            <a:extLst>
              <a:ext uri="{FF2B5EF4-FFF2-40B4-BE49-F238E27FC236}">
                <a16:creationId xmlns:a16="http://schemas.microsoft.com/office/drawing/2014/main" id="{1BC0A497-ADDF-0AEF-A8FD-250E458ED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8278" y="3957781"/>
            <a:ext cx="711300" cy="744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8775ECF-6E5C-FF82-4C99-2407DB4420ED}"/>
              </a:ext>
            </a:extLst>
          </p:cNvPr>
          <p:cNvSpPr txBox="1"/>
          <p:nvPr/>
        </p:nvSpPr>
        <p:spPr>
          <a:xfrm>
            <a:off x="8674207" y="4001295"/>
            <a:ext cx="3183198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Database : SQL/CSV Files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Currently all the operations are stored in CSV file format.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SQL connector can be used to use MySQL DB.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8025CC9-ADE9-7DD5-6945-A2BA19202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6782" y="3937089"/>
            <a:ext cx="688463" cy="558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6341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8561E-6D9E-417B-0FD5-B8496F8E3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72716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Architecture Overview</a:t>
            </a:r>
            <a:endParaRPr lang="en-IN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6E3358-BCD0-74B9-612D-9C755E551080}"/>
              </a:ext>
            </a:extLst>
          </p:cNvPr>
          <p:cNvSpPr/>
          <p:nvPr/>
        </p:nvSpPr>
        <p:spPr>
          <a:xfrm>
            <a:off x="589935" y="1818968"/>
            <a:ext cx="2241755" cy="796413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 given command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A8F5BFA-F3AD-8820-3CA9-9122532D400C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2831690" y="2212258"/>
            <a:ext cx="835742" cy="4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DC431ED-2E3D-E0D6-4112-81D5A2D19D28}"/>
              </a:ext>
            </a:extLst>
          </p:cNvPr>
          <p:cNvSpPr/>
          <p:nvPr/>
        </p:nvSpPr>
        <p:spPr>
          <a:xfrm>
            <a:off x="3736258" y="1818968"/>
            <a:ext cx="2241755" cy="786579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 given to LLM model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42E5049-8601-6468-4DD5-786BD951DA99}"/>
              </a:ext>
            </a:extLst>
          </p:cNvPr>
          <p:cNvCxnSpPr/>
          <p:nvPr/>
        </p:nvCxnSpPr>
        <p:spPr>
          <a:xfrm flipV="1">
            <a:off x="5978013" y="2207340"/>
            <a:ext cx="835742" cy="4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6DEB5545-A6D7-97AA-0D83-42498D498F77}"/>
              </a:ext>
            </a:extLst>
          </p:cNvPr>
          <p:cNvSpPr/>
          <p:nvPr/>
        </p:nvSpPr>
        <p:spPr>
          <a:xfrm>
            <a:off x="6813755" y="1168807"/>
            <a:ext cx="2831690" cy="2077065"/>
          </a:xfrm>
          <a:prstGeom prst="diamond">
            <a:avLst/>
          </a:prstGeom>
          <a:solidFill>
            <a:schemeClr val="accent4"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Intent and parameter identification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0C70D47-E220-7747-1674-59E18F72EA1A}"/>
              </a:ext>
            </a:extLst>
          </p:cNvPr>
          <p:cNvCxnSpPr>
            <a:cxnSpLocks/>
          </p:cNvCxnSpPr>
          <p:nvPr/>
        </p:nvCxnSpPr>
        <p:spPr>
          <a:xfrm>
            <a:off x="11116471" y="2753022"/>
            <a:ext cx="0" cy="844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BDA3DD6-D514-E012-EAE1-D635999F07C6}"/>
              </a:ext>
            </a:extLst>
          </p:cNvPr>
          <p:cNvSpPr/>
          <p:nvPr/>
        </p:nvSpPr>
        <p:spPr>
          <a:xfrm>
            <a:off x="10481187" y="1897625"/>
            <a:ext cx="1573161" cy="85539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Operation mapping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07CF222-ADEC-6DBD-5397-954A834DFFE7}"/>
              </a:ext>
            </a:extLst>
          </p:cNvPr>
          <p:cNvCxnSpPr/>
          <p:nvPr/>
        </p:nvCxnSpPr>
        <p:spPr>
          <a:xfrm flipV="1">
            <a:off x="9645445" y="2214716"/>
            <a:ext cx="835742" cy="4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A633B80-03D9-DDB5-94B2-7A8F1AB5C47B}"/>
              </a:ext>
            </a:extLst>
          </p:cNvPr>
          <p:cNvSpPr/>
          <p:nvPr/>
        </p:nvSpPr>
        <p:spPr>
          <a:xfrm>
            <a:off x="9910916" y="3658840"/>
            <a:ext cx="2133598" cy="89227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Cloud Action Dispatched using </a:t>
            </a:r>
            <a:r>
              <a:rPr lang="en-US" dirty="0" err="1">
                <a:solidFill>
                  <a:schemeClr val="tx1"/>
                </a:solidFill>
              </a:rPr>
              <a:t>Openstack</a:t>
            </a:r>
            <a:r>
              <a:rPr lang="en-US" dirty="0">
                <a:solidFill>
                  <a:schemeClr val="tx1"/>
                </a:solidFill>
              </a:rPr>
              <a:t> SDK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0E44F9D-97B8-D543-2634-FAAAC8E951A0}"/>
              </a:ext>
            </a:extLst>
          </p:cNvPr>
          <p:cNvCxnSpPr>
            <a:stCxn id="23" idx="2"/>
          </p:cNvCxnSpPr>
          <p:nvPr/>
        </p:nvCxnSpPr>
        <p:spPr>
          <a:xfrm>
            <a:off x="10977715" y="4551118"/>
            <a:ext cx="0" cy="1737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6AE9DB8-8303-564C-1498-8BAB9DDEEC9A}"/>
              </a:ext>
            </a:extLst>
          </p:cNvPr>
          <p:cNvCxnSpPr/>
          <p:nvPr/>
        </p:nvCxnSpPr>
        <p:spPr>
          <a:xfrm flipH="1">
            <a:off x="7119257" y="6307494"/>
            <a:ext cx="38584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888B8CF-0962-8255-0073-945F8AC0135E}"/>
              </a:ext>
            </a:extLst>
          </p:cNvPr>
          <p:cNvSpPr/>
          <p:nvPr/>
        </p:nvSpPr>
        <p:spPr>
          <a:xfrm>
            <a:off x="4655986" y="6009167"/>
            <a:ext cx="2463271" cy="596653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Prompt user a success message 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082BAB8-CE66-AF73-0FF4-A6A24DA7DD0C}"/>
              </a:ext>
            </a:extLst>
          </p:cNvPr>
          <p:cNvCxnSpPr>
            <a:stCxn id="23" idx="1"/>
          </p:cNvCxnSpPr>
          <p:nvPr/>
        </p:nvCxnSpPr>
        <p:spPr>
          <a:xfrm flipH="1">
            <a:off x="7249886" y="4104979"/>
            <a:ext cx="26610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09BA95D2-E7A3-023C-9812-31F0C82D5F08}"/>
              </a:ext>
            </a:extLst>
          </p:cNvPr>
          <p:cNvSpPr/>
          <p:nvPr/>
        </p:nvSpPr>
        <p:spPr>
          <a:xfrm>
            <a:off x="4746377" y="3857330"/>
            <a:ext cx="2463271" cy="596653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Prompt user an error message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453CFF-C3FF-1F1E-175C-C76D4F862761}"/>
              </a:ext>
            </a:extLst>
          </p:cNvPr>
          <p:cNvSpPr txBox="1"/>
          <p:nvPr/>
        </p:nvSpPr>
        <p:spPr>
          <a:xfrm>
            <a:off x="7604449" y="3843752"/>
            <a:ext cx="21291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Unsuccessful Operation?</a:t>
            </a:r>
            <a:endParaRPr lang="en-IN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A14541-5C51-7200-F1C5-A7507A6D81BA}"/>
              </a:ext>
            </a:extLst>
          </p:cNvPr>
          <p:cNvSpPr txBox="1"/>
          <p:nvPr/>
        </p:nvSpPr>
        <p:spPr>
          <a:xfrm>
            <a:off x="7660433" y="6036875"/>
            <a:ext cx="21291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Successful Operation?</a:t>
            </a:r>
            <a:endParaRPr lang="en-IN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6E7240-7EBD-0C67-7AE7-49DA7E4D2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50C2244-D12E-F3D0-7074-FA9441AC7FF5}"/>
              </a:ext>
            </a:extLst>
          </p:cNvPr>
          <p:cNvSpPr/>
          <p:nvPr/>
        </p:nvSpPr>
        <p:spPr>
          <a:xfrm>
            <a:off x="7249886" y="2517058"/>
            <a:ext cx="1392669" cy="235964"/>
          </a:xfrm>
          <a:prstGeom prst="rect">
            <a:avLst/>
          </a:prstGeom>
          <a:solidFill>
            <a:srgbClr val="FEDF97"/>
          </a:solidFill>
          <a:ln>
            <a:solidFill>
              <a:srgbClr val="FEDF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C7DB97-4723-1949-F2FA-D52CEAE3C2FC}"/>
              </a:ext>
            </a:extLst>
          </p:cNvPr>
          <p:cNvSpPr txBox="1"/>
          <p:nvPr/>
        </p:nvSpPr>
        <p:spPr>
          <a:xfrm>
            <a:off x="7105211" y="2471969"/>
            <a:ext cx="194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01D4A"/>
                </a:solidFill>
                <a:latin typeface="Arial Rounded MT Bold" panose="020F0704030504030204" pitchFamily="34" charset="0"/>
              </a:rPr>
              <a:t>identification</a:t>
            </a:r>
            <a:endParaRPr lang="en-IN" dirty="0">
              <a:solidFill>
                <a:srgbClr val="101D4A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191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2CF10-DD16-8D4B-1FD1-7F3345262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Example Commands</a:t>
            </a:r>
            <a:endParaRPr lang="en-IN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4C204-7923-A3B3-45D9-3BA3E1111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7" y="1825625"/>
            <a:ext cx="11569958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Create a private network named &lt;private network name&gt;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Create an S.4 VM named &lt;name&gt;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Create a &lt;size(</a:t>
            </a:r>
            <a:r>
              <a:rPr lang="en-US" dirty="0" err="1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eg</a:t>
            </a:r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 : 10GB)&gt; volume named &lt;volume name&gt;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Delete the volume named as &lt;volume name&gt;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563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983D9-87DF-935C-534E-77A13E30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Snippet of the WebApp</a:t>
            </a:r>
            <a:endParaRPr lang="en-IN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FB3CC21-49FA-78D4-0BD0-3DC3545B29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693" y="1662931"/>
            <a:ext cx="10368424" cy="4829944"/>
          </a:xfrm>
        </p:spPr>
      </p:pic>
    </p:spTree>
    <p:extLst>
      <p:ext uri="{BB962C8B-B14F-4D97-AF65-F5344CB8AC3E}">
        <p14:creationId xmlns:p14="http://schemas.microsoft.com/office/powerpoint/2010/main" val="43613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2FB30-010B-57F2-2F50-4F9A4A1F2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Designing for Clarity and Simplicity</a:t>
            </a:r>
            <a:endParaRPr lang="en-IN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CBB95-5C0B-9DF8-E158-70CD4D3DB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21181" cy="435133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Real time feedback for each command</a:t>
            </a:r>
          </a:p>
          <a:p>
            <a:pPr>
              <a:lnSpc>
                <a:spcPct val="200000"/>
              </a:lnSpc>
            </a:pPr>
            <a:r>
              <a:rPr lang="en-IN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Colour coded success and error messages</a:t>
            </a:r>
          </a:p>
          <a:p>
            <a:pPr>
              <a:lnSpc>
                <a:spcPct val="200000"/>
              </a:lnSpc>
            </a:pPr>
            <a:r>
              <a:rPr lang="en-IN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Database to store all the operations</a:t>
            </a:r>
          </a:p>
          <a:p>
            <a:pPr>
              <a:lnSpc>
                <a:spcPct val="200000"/>
              </a:lnSpc>
            </a:pPr>
            <a:r>
              <a:rPr lang="en-IN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Efficient feature extraction and intent detection</a:t>
            </a:r>
          </a:p>
        </p:txBody>
      </p:sp>
    </p:spTree>
    <p:extLst>
      <p:ext uri="{BB962C8B-B14F-4D97-AF65-F5344CB8AC3E}">
        <p14:creationId xmlns:p14="http://schemas.microsoft.com/office/powerpoint/2010/main" val="1834465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76E29-C513-45CA-A94B-31C86CADD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6484" cy="1325563"/>
          </a:xfrm>
        </p:spPr>
        <p:txBody>
          <a:bodyPr/>
          <a:lstStyle/>
          <a:p>
            <a:r>
              <a:rPr lang="en-US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Challenges Faced During Development</a:t>
            </a:r>
            <a:endParaRPr lang="en-IN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CFFC3-E3C0-9261-B1A1-46F41CA72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5956"/>
            <a:ext cx="10515600" cy="4351338"/>
          </a:xfrm>
        </p:spPr>
        <p:txBody>
          <a:bodyPr/>
          <a:lstStyle/>
          <a:p>
            <a:pPr lvl="1">
              <a:lnSpc>
                <a:spcPct val="200000"/>
              </a:lnSpc>
            </a:pPr>
            <a:r>
              <a:rPr lang="en-US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Extracting accurate details from user’s input</a:t>
            </a:r>
          </a:p>
          <a:p>
            <a:pPr lvl="1">
              <a:lnSpc>
                <a:spcPct val="200000"/>
              </a:lnSpc>
            </a:pPr>
            <a:r>
              <a:rPr lang="en-US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OpenStack errors and debugging</a:t>
            </a:r>
          </a:p>
          <a:p>
            <a:pPr lvl="1">
              <a:lnSpc>
                <a:spcPct val="200000"/>
              </a:lnSpc>
            </a:pPr>
            <a:r>
              <a:rPr lang="en-US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Time Constraint</a:t>
            </a:r>
          </a:p>
          <a:p>
            <a:pPr lvl="1">
              <a:lnSpc>
                <a:spcPct val="200000"/>
              </a:lnSpc>
            </a:pPr>
            <a:r>
              <a:rPr lang="en-US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Lack of Direct LLM-to-SDK Documentation</a:t>
            </a:r>
          </a:p>
          <a:p>
            <a:pPr lvl="1">
              <a:lnSpc>
                <a:spcPct val="200000"/>
              </a:lnSpc>
            </a:pPr>
            <a:endParaRPr lang="en-US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pic>
        <p:nvPicPr>
          <p:cNvPr id="5" name="Graphic 4" descr="Playbook with solid fill">
            <a:extLst>
              <a:ext uri="{FF2B5EF4-FFF2-40B4-BE49-F238E27FC236}">
                <a16:creationId xmlns:a16="http://schemas.microsoft.com/office/drawing/2014/main" id="{BC327C9F-25F6-19D1-0D63-1CE64D5E3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11264" y="5707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665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228F2-1D78-1E3C-E834-1A23B7517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Future Scope </a:t>
            </a:r>
            <a:endParaRPr lang="en-IN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F1BCD-33FD-D9CB-5C01-59BA0CDA9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>
                <a:highlight>
                  <a:srgbClr val="00FFFF"/>
                </a:highlight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Multi Cloud Support</a:t>
            </a:r>
          </a:p>
          <a:p>
            <a:pPr>
              <a:lnSpc>
                <a:spcPct val="170000"/>
              </a:lnSpc>
            </a:pPr>
            <a:r>
              <a:rPr lang="en-US" dirty="0">
                <a:highlight>
                  <a:srgbClr val="00FFFF"/>
                </a:highlight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Better LLMs</a:t>
            </a:r>
          </a:p>
          <a:p>
            <a:pPr>
              <a:lnSpc>
                <a:spcPct val="170000"/>
              </a:lnSpc>
            </a:pPr>
            <a:r>
              <a:rPr lang="en-US" dirty="0">
                <a:highlight>
                  <a:srgbClr val="00FFFF"/>
                </a:highlight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Voice Based Commands</a:t>
            </a:r>
          </a:p>
          <a:p>
            <a:pPr>
              <a:lnSpc>
                <a:spcPct val="170000"/>
              </a:lnSpc>
            </a:pPr>
            <a:r>
              <a:rPr lang="en-US" dirty="0">
                <a:highlight>
                  <a:srgbClr val="00FFFF"/>
                </a:highlight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Role Based Access</a:t>
            </a:r>
          </a:p>
          <a:p>
            <a:pPr>
              <a:lnSpc>
                <a:spcPct val="170000"/>
              </a:lnSpc>
            </a:pPr>
            <a:r>
              <a:rPr lang="en-US" dirty="0">
                <a:highlight>
                  <a:srgbClr val="00FFFF"/>
                </a:highlight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Undo Operations</a:t>
            </a:r>
          </a:p>
          <a:p>
            <a:pPr>
              <a:lnSpc>
                <a:spcPct val="170000"/>
              </a:lnSpc>
            </a:pPr>
            <a:r>
              <a:rPr lang="en-US" dirty="0">
                <a:highlight>
                  <a:srgbClr val="00FFFF"/>
                </a:highlight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Full Stack Website</a:t>
            </a:r>
          </a:p>
        </p:txBody>
      </p:sp>
      <p:pic>
        <p:nvPicPr>
          <p:cNvPr id="5" name="Graphic 4" descr="Business Growth with solid fill">
            <a:extLst>
              <a:ext uri="{FF2B5EF4-FFF2-40B4-BE49-F238E27FC236}">
                <a16:creationId xmlns:a16="http://schemas.microsoft.com/office/drawing/2014/main" id="{FE4A199A-CD9F-89C9-05AD-DF255853F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3497" y="5707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488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4EBE8-E95D-98F6-6288-D545093BC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Conclusion</a:t>
            </a:r>
            <a:endParaRPr lang="en-IN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07D58-5051-FD86-55ED-DC83F1179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CloudWhisper</a:t>
            </a:r>
            <a:r>
              <a:rPr lang="en-US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represents a transformative step in cloud computing — turning complex infrastructure management into a </a:t>
            </a:r>
            <a:r>
              <a:rPr lang="en-US" dirty="0">
                <a:highlight>
                  <a:srgbClr val="00FFFF"/>
                </a:highlight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simple, conversational experience</a:t>
            </a:r>
            <a:r>
              <a:rPr lang="en-US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. By combining the power of </a:t>
            </a:r>
            <a:r>
              <a:rPr lang="en-US" dirty="0">
                <a:highlight>
                  <a:srgbClr val="00FFFF"/>
                </a:highlight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LLMs</a:t>
            </a:r>
            <a:r>
              <a:rPr lang="en-US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with the flexibility of </a:t>
            </a:r>
            <a:r>
              <a:rPr lang="en-US" dirty="0">
                <a:highlight>
                  <a:srgbClr val="00FFFF"/>
                </a:highlight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OpenStack</a:t>
            </a:r>
            <a:r>
              <a:rPr lang="en-US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and the usability of </a:t>
            </a:r>
            <a:r>
              <a:rPr lang="en-US" dirty="0" err="1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Streamlit</a:t>
            </a:r>
            <a:r>
              <a:rPr lang="en-US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we’ve built a system that makes cloud operations </a:t>
            </a:r>
            <a:r>
              <a:rPr lang="en-US" dirty="0">
                <a:highlight>
                  <a:srgbClr val="00FFFF"/>
                </a:highlight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accessible to everyone</a:t>
            </a:r>
            <a:r>
              <a:rPr lang="en-US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, not just DevOps experts. This project showcases how AI can bridge the gap between human intent and technical execution, laying the foundation for a future where managing the cloud is as easy as having a conversation.</a:t>
            </a:r>
            <a:endParaRPr lang="en-IN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08305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5BDC736-A437-43E7-9FDC-49026E7925E3}" vid="{05C2A5F1-B1F2-41F0-9CE2-CBFF01ED1E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364</TotalTime>
  <Words>447</Words>
  <Application>Microsoft Office PowerPoint</Application>
  <PresentationFormat>Widescreen</PresentationFormat>
  <Paragraphs>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Rounded MT Bold</vt:lpstr>
      <vt:lpstr>Calibri</vt:lpstr>
      <vt:lpstr>Calibri Light</vt:lpstr>
      <vt:lpstr>Cascadia Code SemiLight</vt:lpstr>
      <vt:lpstr>Cascadia Mono Light</vt:lpstr>
      <vt:lpstr>Cascadia Mono SemiLight</vt:lpstr>
      <vt:lpstr>Theme1</vt:lpstr>
      <vt:lpstr>Cloud Whisper</vt:lpstr>
      <vt:lpstr>Problem Statement</vt:lpstr>
      <vt:lpstr>Project Objective</vt:lpstr>
      <vt:lpstr>Tech Stack</vt:lpstr>
      <vt:lpstr>Architecture Overview</vt:lpstr>
      <vt:lpstr>Example Commands</vt:lpstr>
      <vt:lpstr>Snippet of the WebApp</vt:lpstr>
      <vt:lpstr>Designing for Clarity and Simplicity</vt:lpstr>
      <vt:lpstr>Challenges Faced During Development</vt:lpstr>
      <vt:lpstr>Future Scope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 Malik</dc:creator>
  <cp:lastModifiedBy>Ansh Malik</cp:lastModifiedBy>
  <cp:revision>7</cp:revision>
  <dcterms:created xsi:type="dcterms:W3CDTF">2025-05-17T10:31:34Z</dcterms:created>
  <dcterms:modified xsi:type="dcterms:W3CDTF">2025-06-12T15:46:28Z</dcterms:modified>
</cp:coreProperties>
</file>